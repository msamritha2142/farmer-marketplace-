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49039" cy="6858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23960" y="0"/>
            <a:ext cx="146304" cy="685800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9098280" y="3657600"/>
            <a:ext cx="2834640" cy="1143000"/>
          </a:xfrm>
          <a:prstGeom prst="line">
            <a:avLst/>
          </a:prstGeom>
          <a:ln w="25400">
            <a:solidFill>
              <a:srgbClr val="69A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098280" y="3968496"/>
            <a:ext cx="2834640" cy="1143000"/>
          </a:xfrm>
          <a:prstGeom prst="line">
            <a:avLst/>
          </a:prstGeom>
          <a:ln w="25400">
            <a:solidFill>
              <a:srgbClr val="69A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098280" y="4279392"/>
            <a:ext cx="2834640" cy="1143000"/>
          </a:xfrm>
          <a:prstGeom prst="line">
            <a:avLst/>
          </a:prstGeom>
          <a:ln w="25400">
            <a:solidFill>
              <a:srgbClr val="69A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098280" y="4590288"/>
            <a:ext cx="2834640" cy="1143000"/>
          </a:xfrm>
          <a:prstGeom prst="line">
            <a:avLst/>
          </a:prstGeom>
          <a:ln w="25400">
            <a:solidFill>
              <a:srgbClr val="69A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098280" y="4901184"/>
            <a:ext cx="2834640" cy="1143000"/>
          </a:xfrm>
          <a:prstGeom prst="line">
            <a:avLst/>
          </a:prstGeom>
          <a:ln w="25400">
            <a:solidFill>
              <a:srgbClr val="69A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104120" y="731520"/>
            <a:ext cx="960120" cy="960120"/>
          </a:xfrm>
          <a:prstGeom prst="ellipse">
            <a:avLst/>
          </a:prstGeom>
          <a:solidFill>
            <a:srgbClr val="F4C148"/>
          </a:solidFill>
          <a:ln>
            <a:solidFill>
              <a:srgbClr val="F4C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0" y="2194560"/>
            <a:ext cx="621792" cy="621792"/>
          </a:xfrm>
          <a:prstGeom prst="ellipse">
            <a:avLst/>
          </a:prstGeom>
          <a:solidFill>
            <a:srgbClr val="F8F6EB"/>
          </a:solidFill>
          <a:ln>
            <a:solidFill>
              <a:srgbClr val="F8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2240279"/>
            <a:ext cx="621792" cy="4754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900" b="1">
                <a:solidFill>
                  <a:srgbClr val="2E7D32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0" y="2743200"/>
            <a:ext cx="621792" cy="621792"/>
          </a:xfrm>
          <a:prstGeom prst="ellipse">
            <a:avLst/>
          </a:prstGeom>
          <a:solidFill>
            <a:srgbClr val="F8F6EB"/>
          </a:solidFill>
          <a:ln>
            <a:solidFill>
              <a:srgbClr val="F8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0" y="2788920"/>
            <a:ext cx="621792" cy="4754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900" b="1">
                <a:solidFill>
                  <a:srgbClr val="2E7D3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11064240" y="1828800"/>
            <a:ext cx="621792" cy="621792"/>
          </a:xfrm>
          <a:prstGeom prst="ellipse">
            <a:avLst/>
          </a:prstGeom>
          <a:solidFill>
            <a:srgbClr val="F8F6EB"/>
          </a:solidFill>
          <a:ln>
            <a:solidFill>
              <a:srgbClr val="F8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64240" y="1874519"/>
            <a:ext cx="621792" cy="4754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900" b="1">
                <a:solidFill>
                  <a:srgbClr val="2E7D32"/>
                </a:solidFill>
                <a:latin typeface="Aptos"/>
              </a:defRPr>
            </a:pPr>
            <a:r>
              <a:t>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46920" y="2514600"/>
            <a:ext cx="868680" cy="484632"/>
          </a:xfrm>
          <a:prstGeom prst="line">
            <a:avLst/>
          </a:prstGeom>
          <a:ln w="25400">
            <a:solidFill>
              <a:srgbClr val="F8F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835640" y="2423160"/>
            <a:ext cx="320040" cy="320040"/>
          </a:xfrm>
          <a:prstGeom prst="line">
            <a:avLst/>
          </a:prstGeom>
          <a:ln w="25400">
            <a:solidFill>
              <a:srgbClr val="F8F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731520"/>
            <a:ext cx="72237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1">
                <a:solidFill>
                  <a:srgbClr val="A4C639"/>
                </a:solidFill>
                <a:latin typeface="Aptos"/>
              </a:defRPr>
            </a:pPr>
            <a:r>
              <a:t>DIGITAL AGRICULTURE  •  MERN STACK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17320"/>
            <a:ext cx="7223760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FARMER</a:t>
            </a:r>
          </a:p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MARKETPLACE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46120"/>
            <a:ext cx="1005840" cy="73152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68580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900" b="0">
                <a:solidFill>
                  <a:srgbClr val="E1EBDE"/>
                </a:solidFill>
                <a:latin typeface="Aptos"/>
              </a:defRPr>
            </a:pPr>
            <a:r>
              <a:t>Connecting farmers directly with customers</a:t>
            </a:r>
          </a:p>
          <a:p>
            <a:pPr algn="l">
              <a:defRPr sz="1900" b="0">
                <a:solidFill>
                  <a:srgbClr val="E1EBDE"/>
                </a:solidFill>
                <a:latin typeface="Aptos"/>
              </a:defRPr>
            </a:pPr>
            <a:r>
              <a:t>through a simple, transparent digital platform.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80"/>
            <a:ext cx="1417320" cy="347472"/>
          </a:xfrm>
          <a:prstGeom prst="round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" y="5001768"/>
            <a:ext cx="134416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100" b="1">
                <a:solidFill>
                  <a:srgbClr val="163526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983480"/>
            <a:ext cx="1554480" cy="347472"/>
          </a:xfrm>
          <a:prstGeom prst="round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68296" y="5001768"/>
            <a:ext cx="148132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163526"/>
                </a:solidFill>
                <a:latin typeface="Aptos"/>
              </a:defRPr>
            </a:pPr>
            <a:r>
              <a:t>NODE + EXPRESS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983480"/>
            <a:ext cx="1508760" cy="347472"/>
          </a:xfrm>
          <a:prstGeom prst="roundRect">
            <a:avLst/>
          </a:prstGeom>
          <a:solidFill>
            <a:srgbClr val="F8F6EB"/>
          </a:solidFill>
          <a:ln>
            <a:solidFill>
              <a:srgbClr val="F8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59936" y="5001768"/>
            <a:ext cx="1435607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80760"/>
            <a:ext cx="69494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0">
                <a:solidFill>
                  <a:srgbClr val="BED3BE"/>
                </a:solidFill>
                <a:latin typeface="Aptos"/>
              </a:defRPr>
            </a:pPr>
            <a:r>
              <a:t>PROJECT PRESENTATION  |  CRUD • REST APIs • ROLE-BASED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01  |  The 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A digital bridge between the people who grow food and the people who buy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82296" cy="1920240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31272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EB913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3127248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Farmers need a simple way to list produce, update stock and reach customers.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508760"/>
            <a:ext cx="82296" cy="1920240"/>
          </a:xfrm>
          <a:prstGeom prst="rect">
            <a:avLst/>
          </a:prstGeom>
          <a:solidFill>
            <a:srgbClr val="C24934"/>
          </a:solidFill>
          <a:ln>
            <a:solidFill>
              <a:srgbClr val="C24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636776"/>
            <a:ext cx="31272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C24934"/>
                </a:solidFill>
                <a:latin typeface="Aptos"/>
              </a:defRPr>
            </a:pPr>
            <a:r>
              <a:t>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75688"/>
            <a:ext cx="3127248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Product details, prices and availability can be difficult to discover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087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508760"/>
            <a:ext cx="82296" cy="19202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12724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75688"/>
            <a:ext cx="3127248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A shared online marketplace can make local products easier to find and compare.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200" b="1">
                <a:solidFill>
                  <a:srgbClr val="556358"/>
                </a:solidFill>
                <a:latin typeface="Aptos"/>
              </a:defRPr>
            </a:pPr>
            <a:r>
              <a:t>FROM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89120"/>
            <a:ext cx="3657600" cy="960120"/>
          </a:xfrm>
          <a:prstGeom prst="roundRect">
            <a:avLst/>
          </a:prstGeom>
          <a:solidFill>
            <a:srgbClr val="EDF4E5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329184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defRPr sz="1800" b="1">
                <a:solidFill>
                  <a:srgbClr val="163526"/>
                </a:solidFill>
                <a:latin typeface="Aptos"/>
              </a:defRPr>
            </a:pPr>
            <a:r>
              <a:t>Scattered product information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26280" y="4873752"/>
            <a:ext cx="2926080" cy="0"/>
          </a:xfrm>
          <a:prstGeom prst="line">
            <a:avLst/>
          </a:prstGeom>
          <a:ln w="381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5669280" y="4645152"/>
            <a:ext cx="502920" cy="457200"/>
          </a:xfrm>
          <a:prstGeom prst="chevron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39"/>
            <a:ext cx="27432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200" b="1">
                <a:solidFill>
                  <a:srgbClr val="556358"/>
                </a:solidFill>
                <a:latin typeface="Aptos"/>
              </a:defRPr>
            </a:pPr>
            <a:r>
              <a:t>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4389120"/>
            <a:ext cx="3657600" cy="960120"/>
          </a:xfrm>
          <a:prstGeom prst="roundRect">
            <a:avLst/>
          </a:prstGeom>
          <a:solidFill>
            <a:srgbClr val="DEEFDA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4590288"/>
            <a:ext cx="329184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Aptos"/>
              </a:defRPr>
            </a:pPr>
            <a:r>
              <a:t>One organized marketplace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02  | 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Build a complete, understandable full-stack application—not just a static page.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618488"/>
            <a:ext cx="530352" cy="53035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18488"/>
            <a:ext cx="2286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163526"/>
                </a:solidFill>
                <a:latin typeface="Aptos"/>
              </a:defRPr>
            </a:pPr>
            <a:r>
              <a:t>Demonstrate MERN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907792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556358"/>
                </a:solidFill>
                <a:latin typeface="Aptos"/>
              </a:defRPr>
            </a:pPr>
            <a:r>
              <a:t>Use MongoDB, Express, React and Node.js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41732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08576" y="1618488"/>
            <a:ext cx="530352" cy="530352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1700784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618488"/>
            <a:ext cx="2286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163526"/>
                </a:solidFill>
                <a:latin typeface="Aptos"/>
              </a:defRPr>
            </a:pPr>
            <a:r>
              <a:t>Implement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286000"/>
            <a:ext cx="2907792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556358"/>
                </a:solidFill>
                <a:latin typeface="Aptos"/>
              </a:defRPr>
            </a:pPr>
            <a:r>
              <a:t>Create, read, update and delete product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41732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30184" y="1618488"/>
            <a:ext cx="530352" cy="530352"/>
          </a:xfrm>
          <a:prstGeom prst="ellipse">
            <a:avLst/>
          </a:prstGeom>
          <a:solidFill>
            <a:srgbClr val="C24934"/>
          </a:solidFill>
          <a:ln>
            <a:solidFill>
              <a:srgbClr val="C24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4" y="1700784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618488"/>
            <a:ext cx="2286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163526"/>
                </a:solidFill>
                <a:latin typeface="Aptos"/>
              </a:defRPr>
            </a:pPr>
            <a:r>
              <a:t>Build REST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286000"/>
            <a:ext cx="2907792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556358"/>
                </a:solidFill>
                <a:latin typeface="Aptos"/>
              </a:defRPr>
            </a:pPr>
            <a:r>
              <a:t>Connect the UI to structured backend endpoints.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858768"/>
            <a:ext cx="530352" cy="53035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941063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858768"/>
            <a:ext cx="2286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163526"/>
                </a:solidFill>
                <a:latin typeface="Aptos"/>
              </a:defRPr>
            </a:pPr>
            <a:r>
              <a:t>Create React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26280"/>
            <a:ext cx="2907792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556358"/>
                </a:solidFill>
                <a:latin typeface="Aptos"/>
              </a:defRPr>
            </a:pPr>
            <a:r>
              <a:t>Present products and actions in a clear interface.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36576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08576" y="3858768"/>
            <a:ext cx="530352" cy="530352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08576" y="3941063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3858768"/>
            <a:ext cx="2286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163526"/>
                </a:solidFill>
                <a:latin typeface="Aptos"/>
              </a:defRPr>
            </a:pPr>
            <a:r>
              <a:t>Protect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4526280"/>
            <a:ext cx="2907792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556358"/>
                </a:solidFill>
                <a:latin typeface="Aptos"/>
              </a:defRPr>
            </a:pPr>
            <a:r>
              <a:t>Use authentication and role-based permissions where required.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9016" y="36576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30184" y="3858768"/>
            <a:ext cx="530352" cy="530352"/>
          </a:xfrm>
          <a:prstGeom prst="ellipse">
            <a:avLst/>
          </a:prstGeom>
          <a:solidFill>
            <a:srgbClr val="C24934"/>
          </a:solidFill>
          <a:ln>
            <a:solidFill>
              <a:srgbClr val="C24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30184" y="3941063"/>
            <a:ext cx="530352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3858768"/>
            <a:ext cx="2286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163526"/>
                </a:solidFill>
                <a:latin typeface="Aptos"/>
              </a:defRPr>
            </a:pPr>
            <a:r>
              <a:t>Show results clearly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526280"/>
            <a:ext cx="2907792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556358"/>
                </a:solidFill>
                <a:latin typeface="Aptos"/>
              </a:defRPr>
            </a:pPr>
            <a:r>
              <a:t>Display product details, availability and system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03  |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A role-aware marketplace where farmers manage listings and customers explore produce.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82296" cy="33375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36776"/>
            <a:ext cx="26243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FARMER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2624328" cy="2670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Add a product listing</a:t>
            </a:r>
          </a:p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Set quantity and price</a:t>
            </a:r>
          </a:p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Update availability</a:t>
            </a:r>
          </a:p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Add farm/location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50876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9640" y="1508760"/>
            <a:ext cx="82296" cy="3337560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50808" y="1636776"/>
            <a:ext cx="26243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EB9132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075688"/>
            <a:ext cx="2624328" cy="2670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Browse available produce</a:t>
            </a:r>
          </a:p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View price and quantity</a:t>
            </a:r>
          </a:p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Discover farmer/location</a:t>
            </a:r>
          </a:p>
          <a:p>
            <a:pPr algn="l">
              <a:defRPr sz="1600" b="0">
                <a:solidFill>
                  <a:srgbClr val="163526"/>
                </a:solidFill>
                <a:latin typeface="Aptos"/>
              </a:defRPr>
            </a:pPr>
            <a:r>
              <a:t>• Compare listings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17320"/>
            <a:ext cx="3840480" cy="3566160"/>
          </a:xfrm>
          <a:prstGeom prst="roundRect">
            <a:avLst/>
          </a:prstGeom>
          <a:solidFill>
            <a:srgbClr val="163526"/>
          </a:solidFill>
          <a:ln>
            <a:solidFill>
              <a:srgbClr val="16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737360"/>
            <a:ext cx="32918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FARMER MARKETPLACE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423160"/>
            <a:ext cx="3108960" cy="1600200"/>
          </a:xfrm>
          <a:prstGeom prst="roundRect">
            <a:avLst/>
          </a:prstGeom>
          <a:solidFill>
            <a:srgbClr val="F8F6EB"/>
          </a:solidFill>
          <a:ln>
            <a:solidFill>
              <a:srgbClr val="F8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2651760"/>
            <a:ext cx="822960" cy="822960"/>
          </a:xfrm>
          <a:prstGeom prst="rect">
            <a:avLst/>
          </a:prstGeom>
          <a:solidFill>
            <a:srgbClr val="DEEFDA"/>
          </a:solidFill>
          <a:ln>
            <a:solidFill>
              <a:srgbClr val="DE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73752" y="2761488"/>
            <a:ext cx="329184" cy="53035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10912" y="2862072"/>
            <a:ext cx="256032" cy="384048"/>
          </a:xfrm>
          <a:prstGeom prst="ellipse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2615184"/>
            <a:ext cx="17373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163526"/>
                </a:solidFill>
                <a:latin typeface="Aptos"/>
              </a:defRPr>
            </a:pPr>
            <a:r>
              <a:t>Fresh Tomatoes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990088"/>
            <a:ext cx="173736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Aptos"/>
              </a:defRPr>
            </a:pPr>
            <a:r>
              <a:t>₹40 /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0128"/>
            <a:ext cx="173736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Stock: 25 kg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11880" y="3063240"/>
            <a:ext cx="502920" cy="0"/>
          </a:xfrm>
          <a:prstGeom prst="line">
            <a:avLst/>
          </a:prstGeom>
          <a:ln w="3175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3840480" y="2898648"/>
            <a:ext cx="274320" cy="329184"/>
          </a:xfrm>
          <a:prstGeom prst="chevron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8028431" y="3063240"/>
            <a:ext cx="457201" cy="0"/>
          </a:xfrm>
          <a:prstGeom prst="line">
            <a:avLst/>
          </a:prstGeom>
          <a:ln w="317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8211312" y="2898648"/>
            <a:ext cx="274320" cy="329184"/>
          </a:xfrm>
          <a:prstGeom prst="chevr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4315968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000" b="1">
                <a:solidFill>
                  <a:srgbClr val="D5E8CE"/>
                </a:solidFill>
                <a:latin typeface="Aptos"/>
              </a:defRPr>
            </a:pPr>
            <a:r>
              <a:t>PRODUCTS  •  PRICES  •  LOCATION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5349240"/>
            <a:ext cx="1508760" cy="34747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62856" y="5367527"/>
            <a:ext cx="1435607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EASY TO USE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349240"/>
            <a:ext cx="1508760" cy="347472"/>
          </a:xfrm>
          <a:prstGeom prst="round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08776" y="5367527"/>
            <a:ext cx="1435607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163526"/>
                </a:solidFill>
                <a:latin typeface="Aptos"/>
              </a:defRPr>
            </a:pPr>
            <a:r>
              <a:t>LIVE STOCK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04  |  Data Managed in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Product records bring the key marketplace information together in one document.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417320"/>
            <a:ext cx="6446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417320"/>
            <a:ext cx="6446520" cy="62179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545336"/>
            <a:ext cx="5852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PRODUCT DOCUMENT  |  MongoDB Collection: 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267712"/>
            <a:ext cx="2011680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295144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Aptos"/>
              </a:defRPr>
            </a:pPr>
            <a:r>
              <a:t>productName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04288"/>
            <a:ext cx="3566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Name of the produce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788920"/>
            <a:ext cx="2011680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2816351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25496"/>
            <a:ext cx="3566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Available stock +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310128"/>
            <a:ext cx="2011680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337560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Aptos"/>
              </a:defRPr>
            </a:pPr>
            <a:r>
              <a:t>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346704"/>
            <a:ext cx="3566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Price per unit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831335"/>
            <a:ext cx="2011680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3858768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Aptos"/>
              </a:defRPr>
            </a:pPr>
            <a:r>
              <a:t>farmer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867911"/>
            <a:ext cx="3566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Farmer name / farmer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352544"/>
            <a:ext cx="2011680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4379976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389120"/>
            <a:ext cx="3566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Village, town or region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4873752"/>
            <a:ext cx="2011680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4901184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Aptos"/>
              </a:defRPr>
            </a:pPr>
            <a:r>
              <a:t>timestamps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910328"/>
            <a:ext cx="3566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Created / updated time (optional)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6002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18120" y="1600200"/>
            <a:ext cx="82296" cy="1143000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19288" y="1728216"/>
            <a:ext cx="317296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EB9132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2167128"/>
            <a:ext cx="3172968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Price and quantity should be valid numbers.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29718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18120" y="2971800"/>
            <a:ext cx="82296" cy="1143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19288" y="3099816"/>
            <a:ext cx="317296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3538728"/>
            <a:ext cx="3172968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Require product name, farmer and location.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43434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818120" y="4343400"/>
            <a:ext cx="82296" cy="1143000"/>
          </a:xfrm>
          <a:prstGeom prst="rect">
            <a:avLst/>
          </a:prstGeom>
          <a:solidFill>
            <a:srgbClr val="C24934"/>
          </a:solidFill>
          <a:ln>
            <a:solidFill>
              <a:srgbClr val="C24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19288" y="4471416"/>
            <a:ext cx="317296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C24934"/>
                </a:solidFill>
                <a:latin typeface="Aptos"/>
              </a:defRPr>
            </a:pPr>
            <a:r>
              <a:t>ACCESS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4910328"/>
            <a:ext cx="3172968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Only authorized farmers edit their listings.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05  |  MERN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Each layer has a clear responsibility and communicates through APIs.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424160" cy="822960"/>
          </a:xfrm>
          <a:prstGeom prst="roundRect">
            <a:avLst/>
          </a:prstGeom>
          <a:solidFill>
            <a:srgbClr val="E1EFD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527048"/>
            <a:ext cx="3749039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Aptos"/>
              </a:defRPr>
            </a:pPr>
            <a:r>
              <a:t>REACT.JS  |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527048"/>
            <a:ext cx="59893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Product cards • Forms • Search/filter • Farmer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43200"/>
            <a:ext cx="10424160" cy="822960"/>
          </a:xfrm>
          <a:prstGeom prst="roundRect">
            <a:avLst/>
          </a:prstGeom>
          <a:solidFill>
            <a:srgbClr val="FFEBD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3749039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EB9132"/>
                </a:solidFill>
                <a:latin typeface="Aptos"/>
              </a:defRPr>
            </a:pPr>
            <a:r>
              <a:t>NODE.JS + EXPRESS.JS  |  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852928"/>
            <a:ext cx="59893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Routes • Validation • Authentication • CRUD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69080"/>
            <a:ext cx="10424160" cy="822960"/>
          </a:xfrm>
          <a:prstGeom prst="roundRect">
            <a:avLst/>
          </a:prstGeom>
          <a:solidFill>
            <a:srgbClr val="E4EBDC"/>
          </a:solidFill>
          <a:ln>
            <a:solidFill>
              <a:srgbClr val="16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178808"/>
            <a:ext cx="3749039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1">
                <a:solidFill>
                  <a:srgbClr val="163526"/>
                </a:solidFill>
                <a:latin typeface="Aptos"/>
              </a:defRPr>
            </a:pPr>
            <a:r>
              <a:t>MONGODB  | 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178808"/>
            <a:ext cx="59893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defRPr sz="1300" b="0">
                <a:solidFill>
                  <a:srgbClr val="163526"/>
                </a:solidFill>
                <a:latin typeface="Aptos"/>
              </a:defRPr>
            </a:pPr>
            <a:r>
              <a:t>Product documents • Farmer records • User roles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267712"/>
            <a:ext cx="0" cy="402336"/>
          </a:xfrm>
          <a:prstGeom prst="line">
            <a:avLst/>
          </a:prstGeom>
          <a:ln w="381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>
            <a:off x="5879592" y="2395728"/>
            <a:ext cx="402336" cy="292608"/>
          </a:xfrm>
          <a:prstGeom prst="downArrow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593592"/>
            <a:ext cx="0" cy="402336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own Arrow 18"/>
          <p:cNvSpPr/>
          <p:nvPr/>
        </p:nvSpPr>
        <p:spPr>
          <a:xfrm>
            <a:off x="5879592" y="3730752"/>
            <a:ext cx="402336" cy="292608"/>
          </a:xfrm>
          <a:prstGeom prst="downArrow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400" b="1">
                <a:solidFill>
                  <a:srgbClr val="556358"/>
                </a:solidFill>
                <a:latin typeface="Aptos"/>
              </a:defRPr>
            </a:pPr>
            <a:r>
              <a:t>REQUEST FLOW:  User action → React UI → Express API → MongoDB → API response → Updated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06  |  Core Operations: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The marketplace supports the full product-record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81328" y="1920240"/>
            <a:ext cx="960120" cy="96012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1328" y="2084831"/>
            <a:ext cx="96012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27248"/>
            <a:ext cx="21945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2194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300" b="0">
                <a:solidFill>
                  <a:srgbClr val="163526"/>
                </a:solidFill>
                <a:latin typeface="Aptos"/>
              </a:defRPr>
            </a:pPr>
            <a:r>
              <a:t>Add a new listing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4251960"/>
            <a:ext cx="2231136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297680"/>
            <a:ext cx="2139696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Aptos"/>
              </a:defRPr>
            </a:pPr>
            <a:r>
              <a:t>POST /api/products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61688" y="1920240"/>
            <a:ext cx="960120" cy="960120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2084831"/>
            <a:ext cx="96012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127248"/>
            <a:ext cx="21945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800" b="1">
                <a:solidFill>
                  <a:srgbClr val="EB9132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611880"/>
            <a:ext cx="2194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300" b="0">
                <a:solidFill>
                  <a:srgbClr val="163526"/>
                </a:solidFill>
                <a:latin typeface="Aptos"/>
              </a:defRPr>
            </a:pPr>
            <a:r>
              <a:t>View all / one product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30752" y="4251960"/>
            <a:ext cx="2231136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76472" y="4297680"/>
            <a:ext cx="2139696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Aptos"/>
              </a:defRPr>
            </a:pPr>
            <a:r>
              <a:t>GET /api/products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64592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42048" y="1920240"/>
            <a:ext cx="960120" cy="960120"/>
          </a:xfrm>
          <a:prstGeom prst="ellipse">
            <a:avLst/>
          </a:prstGeom>
          <a:solidFill>
            <a:srgbClr val="C24934"/>
          </a:solidFill>
          <a:ln>
            <a:solidFill>
              <a:srgbClr val="C24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42048" y="2084831"/>
            <a:ext cx="96012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27248"/>
            <a:ext cx="21945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800" b="1">
                <a:solidFill>
                  <a:srgbClr val="C24934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611880"/>
            <a:ext cx="2194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300" b="0">
                <a:solidFill>
                  <a:srgbClr val="163526"/>
                </a:solidFill>
                <a:latin typeface="Aptos"/>
              </a:defRPr>
            </a:pPr>
            <a:r>
              <a:t>Change price or quantity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11112" y="4251960"/>
            <a:ext cx="2231136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4297680"/>
            <a:ext cx="2139696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Aptos"/>
              </a:defRPr>
            </a:pPr>
            <a:r>
              <a:t>PUT /api/products/:id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164592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22407" y="1920240"/>
            <a:ext cx="960120" cy="960120"/>
          </a:xfrm>
          <a:prstGeom prst="ellipse">
            <a:avLst/>
          </a:prstGeom>
          <a:solidFill>
            <a:srgbClr val="163526"/>
          </a:solidFill>
          <a:ln>
            <a:solidFill>
              <a:srgbClr val="16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22407" y="2084831"/>
            <a:ext cx="96012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3127248"/>
            <a:ext cx="21945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800" b="1">
                <a:solidFill>
                  <a:srgbClr val="163526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59" y="3611880"/>
            <a:ext cx="21945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300" b="0">
                <a:solidFill>
                  <a:srgbClr val="163526"/>
                </a:solidFill>
                <a:latin typeface="Aptos"/>
              </a:defRPr>
            </a:pPr>
            <a:r>
              <a:t>Remove a listing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91472" y="4251960"/>
            <a:ext cx="2231136" cy="384048"/>
          </a:xfrm>
          <a:prstGeom prst="roundRect">
            <a:avLst/>
          </a:prstGeom>
          <a:solidFill>
            <a:srgbClr val="EDF4E5"/>
          </a:solidFill>
          <a:ln>
            <a:solidFill>
              <a:srgbClr val="ED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37192" y="4297680"/>
            <a:ext cx="2139696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Aptos"/>
              </a:defRPr>
            </a:pPr>
            <a:r>
              <a:t>DELETE /api/products/:id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400" b="1">
                <a:solidFill>
                  <a:srgbClr val="556358"/>
                </a:solidFill>
                <a:latin typeface="Aptos"/>
              </a:defRPr>
            </a:pPr>
            <a:r>
              <a:t>Every endpoint should validate input and return clear success or error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07  |  Authentication &amp;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Keep the experience simple for users and protect product-management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82296" cy="19202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36776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2990088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Browse listings and view product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82296" cy="1920240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636776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EB9132"/>
                </a:solidFill>
                <a:latin typeface="Aptos"/>
              </a:defRPr>
            </a:pPr>
            <a:r>
              <a:t>FARMER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075688"/>
            <a:ext cx="2990088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Create, update and delete their own listings.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82296" cy="1920240"/>
          </a:xfrm>
          <a:prstGeom prst="rect">
            <a:avLst/>
          </a:prstGeom>
          <a:solidFill>
            <a:srgbClr val="C24934"/>
          </a:solidFill>
          <a:ln>
            <a:solidFill>
              <a:srgbClr val="C24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636776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C24934"/>
                </a:solidFill>
                <a:latin typeface="Aptos"/>
              </a:defRPr>
            </a:pPr>
            <a:r>
              <a:t>ADMIN (OPTIONAL)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075688"/>
            <a:ext cx="2990088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Manage users or moderate inappropriate listings.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200" b="1">
                <a:solidFill>
                  <a:srgbClr val="556358"/>
                </a:solidFill>
                <a:latin typeface="Aptos"/>
              </a:defRPr>
            </a:pPr>
            <a:r>
              <a:t>SECURE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2103120" cy="868680"/>
          </a:xfrm>
          <a:prstGeom prst="roundRect">
            <a:avLst/>
          </a:prstGeom>
          <a:solidFill>
            <a:srgbClr val="DEEFDA"/>
          </a:solidFill>
          <a:ln>
            <a:solidFill>
              <a:srgbClr val="C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1560" y="4590288"/>
            <a:ext cx="411480" cy="41148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636008"/>
            <a:ext cx="41148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572000"/>
            <a:ext cx="1298448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defRPr sz="1300" b="1">
                <a:solidFill>
                  <a:srgbClr val="163526"/>
                </a:solidFill>
                <a:latin typeface="Aptos"/>
              </a:defRPr>
            </a:pPr>
            <a:r>
              <a:t>Sign 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63240" y="4828032"/>
            <a:ext cx="484632" cy="0"/>
          </a:xfrm>
          <a:prstGeom prst="line">
            <a:avLst/>
          </a:prstGeom>
          <a:ln w="254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57600" y="4389120"/>
            <a:ext cx="2103120" cy="868680"/>
          </a:xfrm>
          <a:prstGeom prst="roundRect">
            <a:avLst/>
          </a:prstGeom>
          <a:solidFill>
            <a:srgbClr val="DEEFDA"/>
          </a:solidFill>
          <a:ln>
            <a:solidFill>
              <a:srgbClr val="C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794760" y="4590288"/>
            <a:ext cx="411480" cy="41148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4636008"/>
            <a:ext cx="41148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572000"/>
            <a:ext cx="1298448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defRPr sz="1300" b="1">
                <a:solidFill>
                  <a:srgbClr val="163526"/>
                </a:solidFill>
                <a:latin typeface="Aptos"/>
              </a:defRPr>
            </a:pPr>
            <a:r>
              <a:t>Verify identity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06440" y="4828032"/>
            <a:ext cx="484632" cy="0"/>
          </a:xfrm>
          <a:prstGeom prst="line">
            <a:avLst/>
          </a:prstGeom>
          <a:ln w="254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0" y="4389120"/>
            <a:ext cx="2103120" cy="868680"/>
          </a:xfrm>
          <a:prstGeom prst="roundRect">
            <a:avLst/>
          </a:prstGeom>
          <a:solidFill>
            <a:srgbClr val="DEEFDA"/>
          </a:solidFill>
          <a:ln>
            <a:solidFill>
              <a:srgbClr val="C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37960" y="4590288"/>
            <a:ext cx="411480" cy="41148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4636008"/>
            <a:ext cx="41148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4572000"/>
            <a:ext cx="1298448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defRPr sz="1300" b="1">
                <a:solidFill>
                  <a:srgbClr val="163526"/>
                </a:solidFill>
                <a:latin typeface="Aptos"/>
              </a:defRPr>
            </a:pPr>
            <a:r>
              <a:t>Check role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49640" y="4828032"/>
            <a:ext cx="484632" cy="0"/>
          </a:xfrm>
          <a:prstGeom prst="line">
            <a:avLst/>
          </a:prstGeom>
          <a:ln w="254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144000" y="4389120"/>
            <a:ext cx="2103120" cy="868680"/>
          </a:xfrm>
          <a:prstGeom prst="roundRect">
            <a:avLst/>
          </a:prstGeom>
          <a:solidFill>
            <a:srgbClr val="DEEFDA"/>
          </a:solidFill>
          <a:ln>
            <a:solidFill>
              <a:srgbClr val="C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281160" y="4590288"/>
            <a:ext cx="411480" cy="41148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81160" y="4636008"/>
            <a:ext cx="411480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4572000"/>
            <a:ext cx="1298448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defRPr sz="1300" b="1">
                <a:solidFill>
                  <a:srgbClr val="163526"/>
                </a:solidFill>
                <a:latin typeface="Aptos"/>
              </a:defRPr>
            </a:pPr>
            <a:r>
              <a:t>Allow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1">
                <a:solidFill>
                  <a:srgbClr val="C24934"/>
                </a:solidFill>
                <a:latin typeface="Aptos"/>
              </a:defRPr>
            </a:pPr>
            <a:r>
              <a:t>Important: the backend must enforce permissions; hiding buttons in React is not enough.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08  |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A straightforward journey from adding produce to discovering a listing.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481328"/>
            <a:ext cx="685800" cy="6858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636776"/>
            <a:ext cx="6858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423160"/>
            <a:ext cx="180136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163526"/>
                </a:solidFill>
                <a:latin typeface="Aptos"/>
              </a:defRPr>
            </a:pPr>
            <a:r>
              <a:t>Farmer signs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063240"/>
            <a:ext cx="1801368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0">
                <a:solidFill>
                  <a:srgbClr val="556358"/>
                </a:solidFill>
                <a:latin typeface="Aptos"/>
              </a:defRPr>
            </a:pPr>
            <a:r>
              <a:t>Authenticated 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87752" y="2880360"/>
            <a:ext cx="228600" cy="0"/>
          </a:xfrm>
          <a:prstGeom prst="line">
            <a:avLst/>
          </a:prstGeom>
          <a:ln w="254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2670048" y="2743200"/>
            <a:ext cx="201168" cy="274320"/>
          </a:xfrm>
          <a:prstGeom prst="chevron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52928" y="18288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8728" y="1481328"/>
            <a:ext cx="685800" cy="685800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8728" y="1636776"/>
            <a:ext cx="6858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2423160"/>
            <a:ext cx="180136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163526"/>
                </a:solidFill>
                <a:latin typeface="Aptos"/>
              </a:defRPr>
            </a:pPr>
            <a:r>
              <a:t>Adds produce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063240"/>
            <a:ext cx="1801368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0">
                <a:solidFill>
                  <a:srgbClr val="556358"/>
                </a:solidFill>
                <a:latin typeface="Aptos"/>
              </a:defRPr>
            </a:pPr>
            <a:r>
              <a:t>Name • price • quantity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37760" y="2880360"/>
            <a:ext cx="228600" cy="0"/>
          </a:xfrm>
          <a:prstGeom prst="line">
            <a:avLst/>
          </a:prstGeom>
          <a:ln w="254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5020056" y="2743200"/>
            <a:ext cx="201168" cy="274320"/>
          </a:xfrm>
          <a:prstGeom prst="chevron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02936" y="18288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88736" y="1481328"/>
            <a:ext cx="685800" cy="685800"/>
          </a:xfrm>
          <a:prstGeom prst="ellipse">
            <a:avLst/>
          </a:prstGeom>
          <a:solidFill>
            <a:srgbClr val="C24934"/>
          </a:solidFill>
          <a:ln>
            <a:solidFill>
              <a:srgbClr val="C24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88736" y="1636776"/>
            <a:ext cx="6858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1" y="2423160"/>
            <a:ext cx="180136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163526"/>
                </a:solidFill>
                <a:latin typeface="Aptos"/>
              </a:defRPr>
            </a:pPr>
            <a:r>
              <a:t>API validates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1" y="3063240"/>
            <a:ext cx="1801368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0">
                <a:solidFill>
                  <a:srgbClr val="556358"/>
                </a:solidFill>
                <a:latin typeface="Aptos"/>
              </a:defRPr>
            </a:pPr>
            <a:r>
              <a:t>Checks fields and permissions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87767" y="2880360"/>
            <a:ext cx="228600" cy="0"/>
          </a:xfrm>
          <a:prstGeom prst="line">
            <a:avLst/>
          </a:prstGeom>
          <a:ln w="254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7370063" y="2743200"/>
            <a:ext cx="201168" cy="274320"/>
          </a:xfrm>
          <a:prstGeom prst="chevron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52944" y="18288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38744" y="1481328"/>
            <a:ext cx="685800" cy="685800"/>
          </a:xfrm>
          <a:prstGeom prst="ellipse">
            <a:avLst/>
          </a:prstGeom>
          <a:solidFill>
            <a:srgbClr val="163526"/>
          </a:solidFill>
          <a:ln>
            <a:solidFill>
              <a:srgbClr val="16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38744" y="1636776"/>
            <a:ext cx="6858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423160"/>
            <a:ext cx="180136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163526"/>
                </a:solidFill>
                <a:latin typeface="Aptos"/>
              </a:defRPr>
            </a:pPr>
            <a:r>
              <a:t>MongoDB saves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063240"/>
            <a:ext cx="1801368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0">
                <a:solidFill>
                  <a:srgbClr val="556358"/>
                </a:solidFill>
                <a:latin typeface="Aptos"/>
              </a:defRPr>
            </a:pPr>
            <a:r>
              <a:t>Product document stored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37776" y="2880360"/>
            <a:ext cx="228600" cy="0"/>
          </a:xfrm>
          <a:prstGeom prst="line">
            <a:avLst/>
          </a:prstGeom>
          <a:ln w="25400">
            <a:solidFill>
              <a:srgbClr val="EB9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evron 33"/>
          <p:cNvSpPr/>
          <p:nvPr/>
        </p:nvSpPr>
        <p:spPr>
          <a:xfrm>
            <a:off x="9720072" y="2743200"/>
            <a:ext cx="201168" cy="274320"/>
          </a:xfrm>
          <a:prstGeom prst="chevron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902952" y="1828800"/>
            <a:ext cx="2057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88752" y="1481328"/>
            <a:ext cx="685800" cy="6858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88752" y="1636776"/>
            <a:ext cx="68580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8" y="2423160"/>
            <a:ext cx="1801368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163526"/>
                </a:solidFill>
                <a:latin typeface="Aptos"/>
              </a:defRPr>
            </a:pPr>
            <a:r>
              <a:t>Customer browses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3063240"/>
            <a:ext cx="1801368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200" b="0">
                <a:solidFill>
                  <a:srgbClr val="556358"/>
                </a:solidFill>
                <a:latin typeface="Aptos"/>
              </a:defRPr>
            </a:pPr>
            <a:r>
              <a:t>Latest listings displayed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4800600"/>
            <a:ext cx="10149840" cy="731520"/>
          </a:xfrm>
          <a:prstGeom prst="roundRect">
            <a:avLst/>
          </a:prstGeom>
          <a:solidFill>
            <a:srgbClr val="163526"/>
          </a:solidFill>
          <a:ln>
            <a:solidFill>
              <a:srgbClr val="16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34440" y="4965192"/>
            <a:ext cx="9692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RESULT: Organized listings • clearer availability • direct farmer-to-customer discovery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09  |  Implementation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Build in small steps, then verify the main flows and edge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82296" cy="18288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91056"/>
            <a:ext cx="486460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9968"/>
            <a:ext cx="4864608" cy="1161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1. Create React product pages and forms</a:t>
            </a:r>
          </a:p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2. Build Express CRUD routes</a:t>
            </a:r>
          </a:p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3. Connect MongoDB models</a:t>
            </a:r>
          </a:p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4. Add authentication and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82296" cy="1828800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91056"/>
            <a:ext cx="486460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EB9132"/>
                </a:solidFill>
                <a:latin typeface="Aptos"/>
              </a:defRPr>
            </a:pPr>
            <a:r>
              <a:t>TESTING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29968"/>
            <a:ext cx="4864608" cy="11612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✓ Add, view, edit and delete products</a:t>
            </a:r>
          </a:p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✓ Reject missing or invalid values</a:t>
            </a:r>
          </a:p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✓ Confirm quantity and price updates</a:t>
            </a:r>
          </a:p>
          <a:p>
            <a:pPr algn="l">
              <a:defRPr sz="1400" b="0">
                <a:solidFill>
                  <a:srgbClr val="163526"/>
                </a:solidFill>
                <a:latin typeface="Aptos"/>
              </a:defRPr>
            </a:pPr>
            <a:r>
              <a:t>✓ Block unauthorized 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69080"/>
            <a:ext cx="2514600" cy="1143000"/>
          </a:xfrm>
          <a:prstGeom prst="roundRect">
            <a:avLst/>
          </a:prstGeom>
          <a:solidFill>
            <a:srgbClr val="EDF4E5"/>
          </a:solidFill>
          <a:ln>
            <a:solidFill>
              <a:srgbClr val="D2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22402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2E7D32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22402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0">
                <a:solidFill>
                  <a:srgbClr val="163526"/>
                </a:solidFill>
                <a:latin typeface="Aptos"/>
              </a:defRPr>
            </a:pPr>
            <a:r>
              <a:t>All four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4069080"/>
            <a:ext cx="2514600" cy="1143000"/>
          </a:xfrm>
          <a:prstGeom prst="roundRect">
            <a:avLst/>
          </a:prstGeom>
          <a:solidFill>
            <a:srgbClr val="EDF4E5"/>
          </a:solidFill>
          <a:ln>
            <a:solidFill>
              <a:srgbClr val="D2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9040" y="4251960"/>
            <a:ext cx="22402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2E7D32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645152"/>
            <a:ext cx="22402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0">
                <a:solidFill>
                  <a:srgbClr val="163526"/>
                </a:solidFill>
                <a:latin typeface="Aptos"/>
              </a:defRPr>
            </a:pPr>
            <a:r>
              <a:t>Success + error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069080"/>
            <a:ext cx="2514600" cy="1143000"/>
          </a:xfrm>
          <a:prstGeom prst="roundRect">
            <a:avLst/>
          </a:prstGeom>
          <a:solidFill>
            <a:srgbClr val="EDF4E5"/>
          </a:solidFill>
          <a:ln>
            <a:solidFill>
              <a:srgbClr val="D2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60"/>
            <a:ext cx="22402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2E7D3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45152"/>
            <a:ext cx="22402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0">
                <a:solidFill>
                  <a:srgbClr val="163526"/>
                </a:solidFill>
                <a:latin typeface="Aptos"/>
              </a:defRPr>
            </a:pPr>
            <a:r>
              <a:t>Required fields validated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4069080"/>
            <a:ext cx="2514600" cy="1143000"/>
          </a:xfrm>
          <a:prstGeom prst="roundRect">
            <a:avLst/>
          </a:prstGeom>
          <a:solidFill>
            <a:srgbClr val="EDF4E5"/>
          </a:solidFill>
          <a:ln>
            <a:solidFill>
              <a:srgbClr val="D2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4251960"/>
            <a:ext cx="22402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500" b="1">
                <a:solidFill>
                  <a:srgbClr val="2E7D32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645152"/>
            <a:ext cx="22402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0">
                <a:solidFill>
                  <a:srgbClr val="163526"/>
                </a:solidFill>
                <a:latin typeface="Aptos"/>
              </a:defRPr>
            </a:pPr>
            <a:r>
              <a:t>Roles enforced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300" b="1">
                <a:solidFill>
                  <a:srgbClr val="556358"/>
                </a:solidFill>
                <a:latin typeface="Aptos"/>
              </a:defRPr>
            </a:pPr>
            <a:r>
              <a:t>Expected outcome: a working prototype with persistent product data and clear API responses.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09728" cy="5303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63526"/>
                </a:solidFill>
                <a:latin typeface="Aptos"/>
              </a:defRPr>
            </a:pPr>
            <a:r>
              <a:t>10  | 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896112"/>
            <a:ext cx="104241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0">
                <a:solidFill>
                  <a:srgbClr val="556358"/>
                </a:solidFill>
                <a:latin typeface="Aptos"/>
              </a:defRPr>
            </a:pPr>
            <a:r>
              <a:t>Start with reliable product listings; grow into a richer digital marketplace.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1">
                <a:solidFill>
                  <a:srgbClr val="55635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82296" cy="2057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36776"/>
            <a:ext cx="477316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EXPECTED PROJECT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4773168" cy="13898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One place to discover local produce</a:t>
            </a:r>
          </a:p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Easier stock and price updates</a:t>
            </a:r>
          </a:p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Better visibility for farmer listings</a:t>
            </a:r>
          </a:p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Practical demonstration of full-stack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82296" cy="2057400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636776"/>
            <a:ext cx="477316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EB9132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75688"/>
            <a:ext cx="4773168" cy="13898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Search by location and category</a:t>
            </a:r>
          </a:p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Product images and freshness details</a:t>
            </a:r>
          </a:p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Cart, orders and payment integration</a:t>
            </a:r>
          </a:p>
          <a:p>
            <a:pPr algn="l">
              <a:defRPr sz="1500" b="0">
                <a:solidFill>
                  <a:srgbClr val="163526"/>
                </a:solidFill>
                <a:latin typeface="Aptos"/>
              </a:defRPr>
            </a:pPr>
            <a:r>
              <a:t>• Ratings, delivery tracking and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219456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200" b="1">
                <a:solidFill>
                  <a:srgbClr val="556358"/>
                </a:solidFill>
                <a:latin typeface="Aptos"/>
              </a:defRPr>
            </a:pPr>
            <a:r>
              <a:t>ROADMAP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4800600"/>
            <a:ext cx="9875520" cy="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87552" y="4690872"/>
            <a:ext cx="219456" cy="219456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19" y="5102352"/>
            <a:ext cx="1188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1">
                <a:solidFill>
                  <a:srgbClr val="163526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19" name="Oval 18"/>
          <p:cNvSpPr/>
          <p:nvPr/>
        </p:nvSpPr>
        <p:spPr>
          <a:xfrm>
            <a:off x="3639311" y="4690872"/>
            <a:ext cx="219456" cy="219456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54679" y="5102352"/>
            <a:ext cx="1188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1">
                <a:solidFill>
                  <a:srgbClr val="163526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4690872"/>
            <a:ext cx="219456" cy="219456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5102352"/>
            <a:ext cx="1188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1">
                <a:solidFill>
                  <a:srgbClr val="163526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3" name="Oval 22"/>
          <p:cNvSpPr/>
          <p:nvPr/>
        </p:nvSpPr>
        <p:spPr>
          <a:xfrm>
            <a:off x="9217152" y="4690872"/>
            <a:ext cx="219456" cy="219456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2519" y="5102352"/>
            <a:ext cx="1188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1">
                <a:solidFill>
                  <a:srgbClr val="163526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5" name="Oval 24"/>
          <p:cNvSpPr/>
          <p:nvPr/>
        </p:nvSpPr>
        <p:spPr>
          <a:xfrm>
            <a:off x="10863072" y="4690872"/>
            <a:ext cx="219456" cy="219456"/>
          </a:xfrm>
          <a:prstGeom prst="ellipse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5102352"/>
            <a:ext cx="1188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100" b="1">
                <a:solidFill>
                  <a:srgbClr val="163526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Aptos"/>
              </a:defRPr>
            </a:pPr>
            <a:r>
              <a:t>A farmer-first interface + a secure backend + structured data = a strong project foundation.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1051560"/>
            <a:ext cx="2423160" cy="24231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23960" y="1463040"/>
            <a:ext cx="1600200" cy="1600200"/>
          </a:xfrm>
          <a:prstGeom prst="ellipse">
            <a:avLst/>
          </a:prstGeom>
          <a:solidFill>
            <a:srgbClr val="163526"/>
          </a:solidFill>
          <a:ln>
            <a:solidFill>
              <a:srgbClr val="163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1828800"/>
            <a:ext cx="685800" cy="1005840"/>
          </a:xfrm>
          <a:prstGeom prst="ellipse">
            <a:avLst/>
          </a:prstGeom>
          <a:solidFill>
            <a:srgbClr val="A4C639"/>
          </a:solidFill>
          <a:ln>
            <a:solidFill>
              <a:srgbClr val="A4C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0" y="1965960"/>
            <a:ext cx="384048" cy="64008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67665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1">
                <a:solidFill>
                  <a:srgbClr val="A4C639"/>
                </a:solidFill>
                <a:latin typeface="Aptos"/>
              </a:defRPr>
            </a:pPr>
            <a:r>
              <a:t>FARMER MARKETPLACE  |  MERN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04088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Fresh produce.</a:t>
            </a:r>
          </a:p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Stronger connections.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94760"/>
            <a:ext cx="914400" cy="73152"/>
          </a:xfrm>
          <a:prstGeom prst="rect">
            <a:avLst/>
          </a:prstGeom>
          <a:solidFill>
            <a:srgbClr val="EB9132"/>
          </a:solidFill>
          <a:ln>
            <a:solidFill>
              <a:srgbClr val="EB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6949440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4800" dirty="0"/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67665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0">
                <a:solidFill>
                  <a:srgbClr val="CCDEC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A4C639"/>
                </a:solidFill>
                <a:latin typeface="Aptos"/>
              </a:defRPr>
            </a:pPr>
            <a:r>
              <a:t>MONGODB  •  EXPRESS.JS  •  REACT.JS  •  NODE.JS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909</Words>
  <Application>Microsoft Office PowerPoint</Application>
  <PresentationFormat>Widescreen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Samritha M</cp:lastModifiedBy>
  <cp:revision>2</cp:revision>
  <dcterms:created xsi:type="dcterms:W3CDTF">2013-01-27T09:14:16Z</dcterms:created>
  <dcterms:modified xsi:type="dcterms:W3CDTF">2026-10-10T06:54:00Z</dcterms:modified>
  <cp:category/>
</cp:coreProperties>
</file>